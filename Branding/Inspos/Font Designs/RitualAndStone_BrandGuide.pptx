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3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737360"/>
            <a:ext cx="6949440" cy="18288"/>
          </a:xfrm>
          <a:prstGeom prst="rect">
            <a:avLst/>
          </a:prstGeom>
          <a:solidFill>
            <a:srgbClr val="5C4A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3291840"/>
            <a:ext cx="6949440" cy="18288"/>
          </a:xfrm>
          <a:prstGeom prst="rect">
            <a:avLst/>
          </a:prstGeom>
          <a:solidFill>
            <a:srgbClr val="5C4A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0" y="9144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0" dirty="0">
                <a:solidFill>
                  <a:srgbClr val="B8946A"/>
                </a:solidFill>
                <a:latin typeface="Constancia Script" pitchFamily="34" charset="0"/>
                <a:ea typeface="Constancia Script" pitchFamily="34" charset="-122"/>
                <a:cs typeface="Constancia Script" pitchFamily="34" charset="-120"/>
              </a:rPr>
              <a:t>&amp;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spc="800" kern="0" dirty="0">
                <a:solidFill>
                  <a:srgbClr val="F0E8D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RITUAL  &amp;  STONE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700" kern="0" dirty="0">
                <a:solidFill>
                  <a:srgbClr val="B894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 T U D I 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8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Brand Identity Guidelines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2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8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8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  —  Logo System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A2E22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Logo System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846320" cy="2331720"/>
          </a:xfrm>
          <a:prstGeom prst="roundRect">
            <a:avLst>
              <a:gd name="adj" fmla="val 3922"/>
            </a:avLst>
          </a:prstGeom>
          <a:solidFill>
            <a:srgbClr val="E2D4BF"/>
          </a:solidFill>
          <a:ln w="6350">
            <a:solidFill>
              <a:srgbClr val="D6C8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0" dirty="0">
                <a:solidFill>
                  <a:srgbClr val="B8946A"/>
                </a:solidFill>
                <a:latin typeface="Constancia Script" pitchFamily="34" charset="0"/>
                <a:ea typeface="Constancia Script" pitchFamily="34" charset="-122"/>
                <a:cs typeface="Constancia Script" pitchFamily="34" charset="-120"/>
              </a:rPr>
              <a:t>&amp;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500" kern="0" dirty="0">
                <a:solidFill>
                  <a:srgbClr val="70686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RITUAL  &amp;  STONE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400" kern="0" dirty="0">
                <a:solidFill>
                  <a:srgbClr val="9A8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 T U D I 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Primary — horizontal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532120" y="1143000"/>
            <a:ext cx="1691640" cy="2331720"/>
          </a:xfrm>
          <a:prstGeom prst="roundRect">
            <a:avLst>
              <a:gd name="adj" fmla="val 5405"/>
            </a:avLst>
          </a:prstGeom>
          <a:solidFill>
            <a:srgbClr val="E2D4BF"/>
          </a:solidFill>
          <a:ln w="6350">
            <a:solidFill>
              <a:srgbClr val="D6C8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32120" y="1234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70686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RITUAL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32120" y="146304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B8946A"/>
                </a:solidFill>
                <a:latin typeface="Constancia Script" pitchFamily="34" charset="0"/>
                <a:ea typeface="Constancia Script" pitchFamily="34" charset="-122"/>
                <a:cs typeface="Constancia Script" pitchFamily="34" charset="-120"/>
              </a:rPr>
              <a:t>&amp;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5532120" y="22860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70686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STONE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32120" y="263347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9A8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 T U D I O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532120" y="35661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Stacked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406640" y="1143000"/>
            <a:ext cx="1280160" cy="2331720"/>
          </a:xfrm>
          <a:prstGeom prst="roundRect">
            <a:avLst>
              <a:gd name="adj" fmla="val 7143"/>
            </a:avLst>
          </a:prstGeom>
          <a:solidFill>
            <a:srgbClr val="4A3C2C"/>
          </a:solidFill>
          <a:ln w="6350">
            <a:solidFill>
              <a:srgbClr val="5C4A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0" y="1143000"/>
            <a:ext cx="1280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B8946A"/>
                </a:solidFill>
                <a:latin typeface="Constancia Script" pitchFamily="34" charset="0"/>
                <a:ea typeface="Constancia Script" pitchFamily="34" charset="-122"/>
                <a:cs typeface="Constancia Script" pitchFamily="34" charset="-120"/>
              </a:rPr>
              <a:t>&amp;</a:t>
            </a:r>
            <a:endParaRPr lang="en-US" sz="7200" dirty="0"/>
          </a:p>
        </p:txBody>
      </p:sp>
      <p:sp>
        <p:nvSpPr>
          <p:cNvPr id="17" name="Text 15"/>
          <p:cNvSpPr/>
          <p:nvPr/>
        </p:nvSpPr>
        <p:spPr>
          <a:xfrm>
            <a:off x="7406640" y="35661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8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Cinzel  ·  Constancia Script (&amp; only)  ·  DM Sans Light — all free on Google Fonts and available in Canva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8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8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  —  Colour Palette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A2E22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Colour Palette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261872" cy="2377440"/>
          </a:xfrm>
          <a:prstGeom prst="roundRect">
            <a:avLst>
              <a:gd name="adj" fmla="val 5797"/>
            </a:avLst>
          </a:prstGeom>
          <a:solidFill>
            <a:srgbClr val="E2D4BF"/>
          </a:solidFill>
          <a:ln w="6350">
            <a:solidFill>
              <a:srgbClr val="D6C8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70332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Travertine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68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#E2D4BF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8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Hero neutral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874520" y="1234440"/>
            <a:ext cx="1261872" cy="2377440"/>
          </a:xfrm>
          <a:prstGeom prst="roundRect">
            <a:avLst>
              <a:gd name="adj" fmla="val 5797"/>
            </a:avLst>
          </a:prstGeom>
          <a:solidFill>
            <a:srgbClr val="EAE0CE"/>
          </a:solidFill>
          <a:ln w="6350">
            <a:solidFill>
              <a:srgbClr val="B0A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74520" y="370332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Linen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74520" y="3977640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68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#F0E8DA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74520" y="420624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8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Background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91840" y="1234440"/>
            <a:ext cx="1261872" cy="2377440"/>
          </a:xfrm>
          <a:prstGeom prst="roundRect">
            <a:avLst>
              <a:gd name="adj" fmla="val 5797"/>
            </a:avLst>
          </a:prstGeom>
          <a:solidFill>
            <a:srgbClr val="D6C8B5"/>
          </a:solidFill>
          <a:ln w="6350">
            <a:solidFill>
              <a:srgbClr val="D6C8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370332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Stone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91840" y="3977640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68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#D6C8B5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91840" y="420624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8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Soft neutral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09160" y="1234440"/>
            <a:ext cx="1261872" cy="2377440"/>
          </a:xfrm>
          <a:prstGeom prst="roundRect">
            <a:avLst>
              <a:gd name="adj" fmla="val 5797"/>
            </a:avLst>
          </a:prstGeom>
          <a:solidFill>
            <a:srgbClr val="4A3C2C"/>
          </a:solidFill>
          <a:ln w="6350">
            <a:solidFill>
              <a:srgbClr val="4A3C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370332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Walnut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09160" y="3977640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68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#4A3C2C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09160" y="420624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8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Depth / timber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126480" y="1234440"/>
            <a:ext cx="1261872" cy="2377440"/>
          </a:xfrm>
          <a:prstGeom prst="roundRect">
            <a:avLst>
              <a:gd name="adj" fmla="val 5797"/>
            </a:avLst>
          </a:prstGeom>
          <a:solidFill>
            <a:srgbClr val="B8946A"/>
          </a:solidFill>
          <a:ln w="6350">
            <a:solidFill>
              <a:srgbClr val="B894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370332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Champagne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26480" y="3977640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68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#B8946A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26480" y="420624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8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Brushed gold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543800" y="1234440"/>
            <a:ext cx="1261872" cy="2377440"/>
          </a:xfrm>
          <a:prstGeom prst="roundRect">
            <a:avLst>
              <a:gd name="adj" fmla="val 5797"/>
            </a:avLst>
          </a:prstGeom>
          <a:solidFill>
            <a:srgbClr val="7A8060"/>
          </a:solidFill>
          <a:ln w="6350">
            <a:solidFill>
              <a:srgbClr val="7A80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43800" y="370332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Olive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543800" y="3977640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68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#7A8060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543800" y="420624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8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Botanical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8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8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  —  Typography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A2E22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Typography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749040" cy="3566160"/>
          </a:xfrm>
          <a:prstGeom prst="roundRect">
            <a:avLst>
              <a:gd name="adj" fmla="val 2564"/>
            </a:avLst>
          </a:prstGeom>
          <a:solidFill>
            <a:srgbClr val="E2D4BF"/>
          </a:solidFill>
          <a:ln w="6350">
            <a:solidFill>
              <a:srgbClr val="D6C8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8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Cinzel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A2E22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Logo Wordmark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686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ABCDEFGHIJKLM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0686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NOPQRSTUVWXYZ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0686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0 1 2 3 4 5 6 7 8 9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40156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8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for: Wordmark  ·  Headings  ·  Display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38221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94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 on Google Fonts  ·  Available in Canva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389120" y="1188720"/>
            <a:ext cx="1645920" cy="3291840"/>
          </a:xfrm>
          <a:prstGeom prst="roundRect">
            <a:avLst>
              <a:gd name="adj" fmla="val 5556"/>
            </a:avLst>
          </a:prstGeom>
          <a:solidFill>
            <a:srgbClr val="4A3C2C"/>
          </a:solidFill>
          <a:ln w="6350">
            <a:solidFill>
              <a:srgbClr val="5C4A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2984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8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Constancia Script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389120" y="1508760"/>
            <a:ext cx="1645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B8946A"/>
                </a:solidFill>
                <a:latin typeface="Constancia Script" pitchFamily="34" charset="0"/>
                <a:ea typeface="Constancia Script" pitchFamily="34" charset="-122"/>
                <a:cs typeface="Constancia Script" pitchFamily="34" charset="-120"/>
              </a:rPr>
              <a:t>&amp;</a:t>
            </a:r>
            <a:endParaRPr lang="en-US" sz="10000" dirty="0"/>
          </a:p>
        </p:txBody>
      </p:sp>
      <p:sp>
        <p:nvSpPr>
          <p:cNvPr id="13" name="Text 11"/>
          <p:cNvSpPr/>
          <p:nvPr/>
        </p:nvSpPr>
        <p:spPr>
          <a:xfrm>
            <a:off x="4526280" y="3977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8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&amp; only.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A8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Install font to render.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2468880" cy="3566160"/>
          </a:xfrm>
          <a:prstGeom prst="roundRect">
            <a:avLst>
              <a:gd name="adj" fmla="val 3704"/>
            </a:avLst>
          </a:prstGeom>
          <a:solidFill>
            <a:srgbClr val="E2D4BF"/>
          </a:solidFill>
          <a:ln w="6350">
            <a:solidFill>
              <a:srgbClr val="D6C8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325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8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DM Sans Light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400800" y="16002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Body Text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00800" y="217627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8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Aa Bb Cc Dd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068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 Ff Gg Hh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068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0 1 2 3 4 5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31546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68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great bathroom begins with a vision. We help you find yours — before a single tile is laid.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0" y="38862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8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for: All body copy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A8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Documents  ·  Captions  ·  STUDIO tag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3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894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  —  Visual Language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0E8D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Visual Language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97480" cy="1572768"/>
          </a:xfrm>
          <a:prstGeom prst="roundRect">
            <a:avLst>
              <a:gd name="adj" fmla="val 5814"/>
            </a:avLst>
          </a:prstGeom>
          <a:solidFill>
            <a:srgbClr val="3A2E20"/>
          </a:solidFill>
          <a:ln w="6350">
            <a:solidFill>
              <a:srgbClr val="5C4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946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Surfaces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709928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C8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Honed travertine. Linen. Walnut timber slats. Matte stone basins. Large format porcelain with minimal grout lines. Never polished chrome.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355848" y="1280160"/>
            <a:ext cx="2697480" cy="1572768"/>
          </a:xfrm>
          <a:prstGeom prst="roundRect">
            <a:avLst>
              <a:gd name="adj" fmla="val 5814"/>
            </a:avLst>
          </a:prstGeom>
          <a:solidFill>
            <a:srgbClr val="3A2E20"/>
          </a:solidFill>
          <a:ln w="6350">
            <a:solidFill>
              <a:srgbClr val="5C4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38728" y="14173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946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Light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38728" y="1709928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C8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Golden hour. Candlelight. Skylights. Soft underlighting as an accent note. Natural light before anything else. Never clinical, never overlit.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54496" y="1280160"/>
            <a:ext cx="2697480" cy="1572768"/>
          </a:xfrm>
          <a:prstGeom prst="roundRect">
            <a:avLst>
              <a:gd name="adj" fmla="val 5814"/>
            </a:avLst>
          </a:prstGeom>
          <a:solidFill>
            <a:srgbClr val="3A2E20"/>
          </a:solidFill>
          <a:ln w="6350">
            <a:solidFill>
              <a:srgbClr val="5C4A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37376" y="14173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946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Botanicals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37376" y="1709928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C8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Olive, palm, fig, monstera. Never artificial, never manicured. Plants should look like they grew in the space — not styled for a shoot.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2697480" cy="1572768"/>
          </a:xfrm>
          <a:prstGeom prst="roundRect">
            <a:avLst>
              <a:gd name="adj" fmla="val 5814"/>
            </a:avLst>
          </a:prstGeom>
          <a:solidFill>
            <a:srgbClr val="3A2E20"/>
          </a:solidFill>
          <a:ln w="6350">
            <a:solidFill>
              <a:srgbClr val="5C4A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1546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946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Hardware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447288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C8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Brushed champagne nickel. Matte black as a contrast note only. No chrome. Freestanding stone baths. Overhead rain heads as standard.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55848" y="3017520"/>
            <a:ext cx="2697480" cy="1572768"/>
          </a:xfrm>
          <a:prstGeom prst="roundRect">
            <a:avLst>
              <a:gd name="adj" fmla="val 5814"/>
            </a:avLst>
          </a:prstGeom>
          <a:solidFill>
            <a:srgbClr val="3A2E20"/>
          </a:solidFill>
          <a:ln w="6350">
            <a:solidFill>
              <a:srgbClr val="5C4A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38728" y="31546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946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Photography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38728" y="3447288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C8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Warm horizontal frames. Detail shots of material textures. Always include a plant. Golden-hour or soft spa-like ambience. Never cold flash.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54496" y="3017520"/>
            <a:ext cx="2697480" cy="1572768"/>
          </a:xfrm>
          <a:prstGeom prst="roundRect">
            <a:avLst>
              <a:gd name="adj" fmla="val 5814"/>
            </a:avLst>
          </a:prstGeom>
          <a:solidFill>
            <a:srgbClr val="3A2E20"/>
          </a:solidFill>
          <a:ln w="6350">
            <a:solidFill>
              <a:srgbClr val="5C4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37376" y="31546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946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37376" y="3447288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C8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Porcelanosa. Aman Resorts. Six Senses. Aesop. Vogue Living AU. Brands that never shout about luxury — it is simply felt.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8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8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  —  Brand Voice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A2E22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Brand Voice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234440"/>
          </a:xfrm>
          <a:prstGeom prst="roundRect">
            <a:avLst>
              <a:gd name="adj" fmla="val 7407"/>
            </a:avLst>
          </a:prstGeom>
          <a:solidFill>
            <a:srgbClr val="E2D4BF"/>
          </a:solidFill>
          <a:ln w="6350">
            <a:solidFill>
              <a:srgbClr val="D6C8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34440"/>
            <a:ext cx="7680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A2E22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“Like being welcomed at the door with coffee, before stepping into a restorative luxury villa spa in Mallorca.”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4069080" cy="1005840"/>
          </a:xfrm>
          <a:prstGeom prst="roundRect">
            <a:avLst>
              <a:gd name="adj" fmla="val 7273"/>
            </a:avLst>
          </a:prstGeom>
          <a:solidFill>
            <a:srgbClr val="EEE6D8"/>
          </a:solidFill>
          <a:ln w="6350">
            <a:solidFill>
              <a:srgbClr val="D6C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898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946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Warm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317296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8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Personal, not transactional. You remember their bathroom dimensions and their renovation anxiety. You write like a trusted friend with expert knowledge.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800600" y="2788920"/>
            <a:ext cx="4069080" cy="1005840"/>
          </a:xfrm>
          <a:prstGeom prst="roundRect">
            <a:avLst>
              <a:gd name="adj" fmla="val 7273"/>
            </a:avLst>
          </a:prstGeom>
          <a:solidFill>
            <a:srgbClr val="EEE6D8"/>
          </a:solidFill>
          <a:ln w="6350">
            <a:solidFill>
              <a:srgbClr val="D6C8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01768" y="2898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946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Expert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01768" y="317296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8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You’ve worked with Porcelanosa. You know materials, proportions, and what clients will regret. Your expertise is worn lightly — felt, not announced.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3904488"/>
            <a:ext cx="4069080" cy="1005840"/>
          </a:xfrm>
          <a:prstGeom prst="roundRect">
            <a:avLst>
              <a:gd name="adj" fmla="val 7273"/>
            </a:avLst>
          </a:prstGeom>
          <a:solidFill>
            <a:srgbClr val="EEE6D8"/>
          </a:solidFill>
          <a:ln w="6350">
            <a:solidFill>
              <a:srgbClr val="D6C8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40142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946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Refined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428853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8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exclamation marks in client communications. Never ‘amazing’ or ‘stunning’. You choose words the way you’d choose a stone basin — considered and quiet.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800600" y="3904488"/>
            <a:ext cx="4069080" cy="1005840"/>
          </a:xfrm>
          <a:prstGeom prst="roundRect">
            <a:avLst>
              <a:gd name="adj" fmla="val 7273"/>
            </a:avLst>
          </a:prstGeom>
          <a:solidFill>
            <a:srgbClr val="EEE6D8"/>
          </a:solidFill>
          <a:ln w="6350">
            <a:solidFill>
              <a:srgbClr val="D6C8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01768" y="40142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946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Reassuring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01768" y="428853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8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Renovations are stressful. You exist before the decisions get made. You are clarity before the chaos — the most important voice in the room.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8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8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06  —  Usage Guidelines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A2E22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Usage Guidelines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0" y="1143000"/>
            <a:ext cx="27432" cy="4480560"/>
          </a:xfrm>
          <a:prstGeom prst="rect">
            <a:avLst/>
          </a:prstGeom>
          <a:solidFill>
            <a:srgbClr val="D6C8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806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DO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28016" cy="128016"/>
          </a:xfrm>
          <a:prstGeom prst="ellipse">
            <a:avLst/>
          </a:prstGeom>
          <a:solidFill>
            <a:srgbClr val="7A80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1848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Always use Cinzel for the wordmark — never substitute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176272"/>
            <a:ext cx="128016" cy="128016"/>
          </a:xfrm>
          <a:prstGeom prst="ellipse">
            <a:avLst/>
          </a:prstGeom>
          <a:solidFill>
            <a:srgbClr val="7A80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3055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the Constancia Script "&amp;" oversized as focal element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688336"/>
            <a:ext cx="128016" cy="128016"/>
          </a:xfrm>
          <a:prstGeom prst="ellipse">
            <a:avLst/>
          </a:prstGeom>
          <a:solidFill>
            <a:srgbClr val="7A80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64261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Keep photography warm, golden-hour, material-rich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128016" cy="128016"/>
          </a:xfrm>
          <a:prstGeom prst="ellipse">
            <a:avLst/>
          </a:prstGeom>
          <a:solidFill>
            <a:srgbClr val="7A80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15468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Pair the logo with generous linen or travertine space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712464"/>
            <a:ext cx="128016" cy="128016"/>
          </a:xfrm>
          <a:prstGeom prst="ellipse">
            <a:avLst/>
          </a:prstGeom>
          <a:solidFill>
            <a:srgbClr val="7A80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66674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DM Sans Light for all body copy and documents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4224528"/>
            <a:ext cx="128016" cy="128016"/>
          </a:xfrm>
          <a:prstGeom prst="ellipse">
            <a:avLst/>
          </a:prstGeom>
          <a:solidFill>
            <a:srgbClr val="7A80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17880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Palette: travertine, linen, walnut, champagne, olive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46320" y="1188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5A4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DON’T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46320" y="1664208"/>
            <a:ext cx="128016" cy="128016"/>
          </a:xfrm>
          <a:prstGeom prst="ellipse">
            <a:avLst/>
          </a:prstGeom>
          <a:solidFill>
            <a:srgbClr val="8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161848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Logo on busy or colourful backgrounds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46320" y="2176272"/>
            <a:ext cx="128016" cy="128016"/>
          </a:xfrm>
          <a:prstGeom prst="ellipse">
            <a:avLst/>
          </a:prstGeom>
          <a:solidFill>
            <a:srgbClr val="8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213055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Stretch, rotate, or alter any logo proportions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46320" y="2688336"/>
            <a:ext cx="128016" cy="128016"/>
          </a:xfrm>
          <a:prstGeom prst="ellipse">
            <a:avLst/>
          </a:prstGeom>
          <a:solidFill>
            <a:srgbClr val="8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264261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cold grey, blue, or chrome in brand materials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46320" y="3200400"/>
            <a:ext cx="128016" cy="128016"/>
          </a:xfrm>
          <a:prstGeom prst="ellipse">
            <a:avLst/>
          </a:prstGeom>
          <a:solidFill>
            <a:srgbClr val="8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31546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Substitute the Constancia Script "&amp;" with any other font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46320" y="3712464"/>
            <a:ext cx="128016" cy="128016"/>
          </a:xfrm>
          <a:prstGeom prst="ellipse">
            <a:avLst/>
          </a:prstGeom>
          <a:solidFill>
            <a:srgbClr val="8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366674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staged or artificial-looking stock photography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4224528"/>
            <a:ext cx="128016" cy="128016"/>
          </a:xfrm>
          <a:prstGeom prst="ellipse">
            <a:avLst/>
          </a:prstGeom>
          <a:solidFill>
            <a:srgbClr val="8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417880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DM Sans Bold — Light weight only throughout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Brand Identity Guidelines</dc:title>
  <dc:subject>PptxGenJS Presentation</dc:subject>
  <dc:creator>Ritual &amp; Stone Studio</dc:creator>
  <cp:lastModifiedBy>Ritual &amp; Stone Studio</cp:lastModifiedBy>
  <cp:revision>1</cp:revision>
  <dcterms:created xsi:type="dcterms:W3CDTF">2026-06-28T09:44:43Z</dcterms:created>
  <dcterms:modified xsi:type="dcterms:W3CDTF">2026-06-28T09:44:43Z</dcterms:modified>
</cp:coreProperties>
</file>